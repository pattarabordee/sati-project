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Sati — Posture &amp; Focus Coach</a:t>
            </a:r>
            <a:endParaRPr lang="en-US" sz="1200"/>
          </a:p>
          <a:p>
            <a:r>
              <a:rPr lang="en-US" sz="1200"/>
              <a:t>Hackathon Coding Thailand 2026 · Wellness Track</a:t>
            </a:r>
            <a:endParaRPr lang="en-US" sz="1200"/>
          </a:p>
          <a:p>
            <a:endParaRPr lang="en-US" sz="1200"/>
          </a:p>
          <a:p>
            <a:r>
              <a:rPr lang="en-US" sz="1200"/>
              <a:t>Key line: "A sensor-driven wellness companion that helps office workers notice posture and break patterns before they drift too far."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2: Problem (30s)</a:t>
            </a:r>
            <a:endParaRPr lang="en-US" sz="1200"/>
          </a:p>
          <a:p>
            <a:endParaRPr lang="en-US" sz="1200"/>
          </a:p>
          <a:p>
            <a:r>
              <a:rPr lang="en-US" sz="1200"/>
              <a:t>- Office workers sit in front of screens for long hours, and posture often changes without awareness.</a:t>
            </a:r>
            <a:endParaRPr lang="en-US" sz="1200"/>
          </a:p>
          <a:p>
            <a:r>
              <a:rPr lang="en-US" sz="1200"/>
              <a:t>- Existing habit apps rely on self-report, so users forget to log.</a:t>
            </a:r>
            <a:endParaRPr lang="en-US" sz="1200"/>
          </a:p>
          <a:p>
            <a:r>
              <a:rPr lang="en-US" sz="1200"/>
              <a:t>- Many wellness apps do not have hardware ground truth.</a:t>
            </a:r>
            <a:endParaRPr lang="en-US" sz="1200"/>
          </a:p>
          <a:p>
            <a:endParaRPr lang="en-US" sz="1200"/>
          </a:p>
          <a:p>
            <a:r>
              <a:rPr lang="en-US" sz="1200"/>
              <a:t>Speaker note:</a:t>
            </a:r>
            <a:endParaRPr lang="en-US" sz="1200"/>
          </a:p>
          <a:p>
            <a:r>
              <a:rPr lang="en-US" sz="1200"/>
              <a:t>"The problem is not that people do not care. The problem is that the signal arrives too late, and most apps ask the user to do extra work."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3: Insight (30s)</a:t>
            </a:r>
            <a:endParaRPr lang="en-US" sz="1200"/>
          </a:p>
          <a:p>
            <a:endParaRPr lang="en-US" sz="1200"/>
          </a:p>
          <a:p>
            <a:r>
              <a:rPr lang="en-US" sz="1200"/>
              <a:t>"คนไม่กลับมาเปิดแอป ถ้ามันรู้สึกเหมือนการบ้าน"</a:t>
            </a:r>
            <a:endParaRPr lang="en-US" sz="1200"/>
          </a:p>
          <a:p>
            <a:endParaRPr lang="en-US" sz="1200"/>
          </a:p>
          <a:p>
            <a:r>
              <a:rPr lang="en-US" sz="1200"/>
              <a:t>What Sati changes:</a:t>
            </a:r>
            <a:endParaRPr lang="en-US" sz="1200"/>
          </a:p>
          <a:p>
            <a:r>
              <a:rPr lang="en-US" sz="1200"/>
              <a:t>- Ambient feedback instead of interruption-first design</a:t>
            </a:r>
            <a:endParaRPr lang="en-US" sz="1200"/>
          </a:p>
          <a:p>
            <a:r>
              <a:rPr lang="en-US" sz="1200"/>
              <a:t>- Reward loop that grows from measured behavior</a:t>
            </a:r>
            <a:endParaRPr lang="en-US" sz="1200"/>
          </a:p>
          <a:p>
            <a:r>
              <a:rPr lang="en-US" sz="1200"/>
              <a:t>- Cute plant mechanic that makes progress visible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4: Solution (45s)</a:t>
            </a:r>
            <a:endParaRPr lang="en-US" sz="1200"/>
          </a:p>
          <a:p>
            <a:endParaRPr lang="en-US" sz="1200"/>
          </a:p>
          <a:p>
            <a:r>
              <a:rPr lang="en-US" sz="1200"/>
              <a:t>- IMU on Nano 33 BLE Sense reads back angle.</a:t>
            </a:r>
            <a:endParaRPr lang="en-US" sz="1200"/>
          </a:p>
          <a:p>
            <a:r>
              <a:rPr lang="en-US" sz="1200"/>
              <a:t>- Modulino Distance reads screen distance.</a:t>
            </a:r>
            <a:endParaRPr lang="en-US" sz="1200"/>
          </a:p>
          <a:p>
            <a:r>
              <a:rPr lang="en-US" sz="1200"/>
              <a:t>- Movement cue confirms break behavior.</a:t>
            </a:r>
            <a:endParaRPr lang="en-US" sz="1200"/>
          </a:p>
          <a:p>
            <a:r>
              <a:rPr lang="en-US" sz="1200"/>
              <a:t>- Web app turns signals into a 3-state coach: NORMAL -&gt; WARNING -&gt; ACTION.</a:t>
            </a:r>
            <a:endParaRPr lang="en-US" sz="1200"/>
          </a:p>
          <a:p>
            <a:r>
              <a:rPr lang="en-US" sz="1200"/>
              <a:t>- Growth mechanic makes the plant grow from real sensor-confirmed behavior.</a:t>
            </a:r>
            <a:endParaRPr lang="en-US" sz="1200"/>
          </a:p>
          <a:p>
            <a:r>
              <a:rPr lang="en-US" sz="1200"/>
              <a:t>- HR view shows aggregate team pattern only.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5: Architecture (30s)</a:t>
            </a:r>
            <a:endParaRPr lang="en-US" sz="1200"/>
          </a:p>
          <a:p>
            <a:endParaRPr lang="en-US" sz="1200"/>
          </a:p>
          <a:p>
            <a:r>
              <a:rPr lang="en-US" sz="1200"/>
              <a:t>[Nano 33 BLE Sense] --BLE--&gt; [Arduino UNO Q Linux] --WebSocket--&gt; [Next.js Browser]</a:t>
            </a:r>
            <a:endParaRPr lang="en-US" sz="1200"/>
          </a:p>
          <a:p>
            <a:r>
              <a:rPr lang="en-US" sz="1200"/>
              <a:t>[Modulino ToF]      --Serial-&gt; [UNO Q MCU] ----------------------^</a:t>
            </a:r>
            <a:endParaRPr lang="en-US" sz="1200"/>
          </a:p>
          <a:p>
            <a:endParaRPr lang="en-US" sz="1200"/>
          </a:p>
          <a:p>
            <a:r>
              <a:rPr lang="en-US" sz="1200"/>
              <a:t>Speaker note:</a:t>
            </a:r>
            <a:endParaRPr lang="en-US" sz="1200"/>
          </a:p>
          <a:p>
            <a:r>
              <a:rPr lang="en-US" sz="1200"/>
              <a:t>"UNO Q is the edge hub. The MCU side handles realtime sensor bridge. The Linux side runs Python and serves the dashboard."</a:t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6: Demo (Live)</a:t>
            </a:r>
            <a:endParaRPr lang="en-US" sz="1200"/>
          </a:p>
          <a:p>
            <a:endParaRPr lang="en-US" sz="1200"/>
          </a:p>
          <a:p>
            <a:r>
              <a:rPr lang="en-US" sz="1200"/>
              <a:t>Follow docs/DEMO_SCRIPT.md:</a:t>
            </a:r>
            <a:endParaRPr lang="en-US" sz="1200"/>
          </a:p>
          <a:p>
            <a:endParaRPr lang="en-US" sz="1200"/>
          </a:p>
          <a:p>
            <a:r>
              <a:rPr lang="en-US" sz="1200"/>
              <a:t>1. Normal posture</a:t>
            </a:r>
            <a:endParaRPr lang="en-US" sz="1200"/>
          </a:p>
          <a:p>
            <a:r>
              <a:rPr lang="en-US" sz="1200"/>
              <a:t>2. Hunched cue</a:t>
            </a:r>
            <a:endParaRPr lang="en-US" sz="1200"/>
          </a:p>
          <a:p>
            <a:r>
              <a:rPr lang="en-US" sz="1200"/>
              <a:t>3. Stretch completion</a:t>
            </a:r>
            <a:endParaRPr lang="en-US" sz="1200"/>
          </a:p>
          <a:p>
            <a:r>
              <a:rPr lang="en-US" sz="1200"/>
              <a:t>4. Growth level-up</a:t>
            </a:r>
            <a:endParaRPr lang="en-US" sz="1200"/>
          </a:p>
          <a:p>
            <a:r>
              <a:rPr lang="en-US" sz="1200"/>
              <a:t>5. Second-Brain insights</a:t>
            </a:r>
            <a:endParaRPr lang="en-US" sz="1200"/>
          </a:p>
          <a:p>
            <a:r>
              <a:rPr lang="en-US" sz="1200"/>
              <a:t>6. HR aggregate dashboard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7: Market &amp; Business (30s)</a:t>
            </a:r>
            <a:endParaRPr lang="en-US" sz="1200"/>
          </a:p>
          <a:p>
            <a:endParaRPr lang="en-US" sz="1200"/>
          </a:p>
          <a:p>
            <a:r>
              <a:rPr lang="en-US" sz="1200"/>
              <a:t>- Beachhead: B2B office wellness pilot for tech companies and co-working spaces.</a:t>
            </a:r>
            <a:endParaRPr lang="en-US" sz="1200"/>
          </a:p>
          <a:p>
            <a:r>
              <a:rPr lang="en-US" sz="1200"/>
              <a:t>- Revenue: hardware kit + monthly aggregate dashboard.</a:t>
            </a:r>
            <a:endParaRPr lang="en-US" sz="1200"/>
          </a:p>
          <a:p>
            <a:r>
              <a:rPr lang="en-US" sz="1200"/>
              <a:t>- Expansion: decorative content, team challenges, privacy-preserving aggregate reports.</a:t>
            </a:r>
            <a:endParaRPr lang="en-US" sz="1200"/>
          </a:p>
          <a:p>
            <a:r>
              <a:rPr lang="en-US" sz="1200"/>
              <a:t>- Market size: [ทีมต้องเติม source จากรายงาน corporate wellness / workplace wellness ที่น่าเชื่อถือ]</a:t>
            </a:r>
            <a:endParaRPr lang="en-US" sz="1200"/>
          </a:p>
          <a:p>
            <a:endParaRPr lang="en-US" sz="1200"/>
          </a:p>
          <a:p>
            <a:r>
              <a:rPr lang="en-US" sz="1200"/>
              <a:t>Speaker note:</a:t>
            </a:r>
            <a:endParaRPr lang="en-US" sz="1200"/>
          </a:p>
          <a:p>
            <a:r>
              <a:rPr lang="en-US" sz="1200"/>
              <a:t>"We start where the hardware value is obvious: offices that already invest in wellness but cannot see behavior patterns in realtime."</a:t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Slide 8: Ask</a:t>
            </a:r>
            <a:endParaRPr lang="en-US" sz="1200"/>
          </a:p>
          <a:p>
            <a:endParaRPr lang="en-US" sz="1200"/>
          </a:p>
          <a:p>
            <a:r>
              <a:rPr lang="en-US" sz="1200"/>
              <a:t>- Feedback from judges on hardware reliability and pilot design</a:t>
            </a:r>
            <a:endParaRPr lang="en-US" sz="1200"/>
          </a:p>
          <a:p>
            <a:r>
              <a:rPr lang="en-US" sz="1200"/>
              <a:t>- Mentorship on enterprise wellness sales</a:t>
            </a:r>
            <a:endParaRPr lang="en-US" sz="1200"/>
          </a:p>
          <a:p>
            <a:r>
              <a:rPr lang="en-US" sz="1200"/>
              <a:t>- Distribution partnership with Arduino / maker community / corporate wellness partners</a:t>
            </a:r>
            <a:endParaRPr lang="en-US" sz="1200"/>
          </a:p>
          <a:p>
            <a:r>
              <a:rPr lang="en-US" sz="1200"/>
              <a:t>- Pilot company for a 2-week office trial</a:t>
            </a:r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/>
          </p:cNvSpPr>
          <p:nvPr>
            <p:ph type="sldImg" idx="1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2"/>
          </p:nvPr>
        </p:nvSpPr>
        <p:spPr>
          <a:xfrm>
            <a:off x="685800" y="4114800"/>
            <a:ext cx="7772400" cy="292608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Closing Line</a:t>
            </a:r>
            <a:endParaRPr lang="en-US" sz="1200"/>
          </a:p>
          <a:p>
            <a:endParaRPr lang="en-US" sz="1200"/>
          </a:p>
          <a:p>
            <a:r>
              <a:rPr lang="en-US" sz="1200"/>
              <a:t>"Sati is not just a reminder. It is a loop: sensor -&gt; insight -&gt; action -&gt; reward -&gt; team-level learning."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85800"/>
            <a:ext cx="640080" cy="640080"/>
          </a:xfrm>
          <a:prstGeom prst="ellipse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0" b="1">
                <a:solidFill>
                  <a:srgbClr val="34492F"/>
                </a:solidFill>
                <a:latin typeface="Calibri"/>
              </a:rPr>
              <a:t>Sati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6FB866"/>
                </a:solidFill>
                <a:latin typeface="Calibri"/>
              </a:rPr>
              <a:t>Posture &amp; Focus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70332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34492F"/>
                </a:solidFill>
                <a:latin typeface="Calibri"/>
              </a:rPr>
              <a:t>Hackathon Coding Thailand 2026 · Wellness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432511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B7566"/>
                </a:solidFill>
                <a:latin typeface="Calibri"/>
              </a:rPr>
              <a:t>A sensor-driven wellness companion that helps office workers notice posture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946904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B7566"/>
                </a:solidFill>
                <a:latin typeface="Calibri"/>
              </a:rPr>
              <a:t>and break patterns before they drift too far.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Office workers sit in front of screens for long hours, and posture often changes without awareness.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Existing habit apps rely on self-report, so users forget to log.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Many wellness apps do not have hardware ground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1508760"/>
          </a:xfrm>
          <a:prstGeom prst="roundRect">
            <a:avLst/>
          </a:prstGeom>
          <a:solidFill>
            <a:srgbClr val="FFFDF8"/>
          </a:solidFill>
          <a:ln>
            <a:solidFill>
              <a:srgbClr val="D8E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12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34492F"/>
                </a:solidFill>
                <a:latin typeface="Calibri"/>
              </a:rPr>
              <a:t>คนไม่กลับมาเปิดแอป ถ้ามันรู้สึกเหมือนการบ้าน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900" b="0">
                <a:solidFill>
                  <a:srgbClr val="34492F"/>
                </a:solidFill>
                <a:latin typeface="Calibri"/>
              </a:rPr>
              <a:t>• Ambient feedback instead of interruption-first design</a:t>
            </a:r>
          </a:p>
          <a:p>
            <a:pPr>
              <a:spcAft>
                <a:spcPts val="1200"/>
              </a:spcAft>
            </a:pPr>
            <a:r>
              <a:rPr sz="2900" b="0">
                <a:solidFill>
                  <a:srgbClr val="34492F"/>
                </a:solidFill>
                <a:latin typeface="Calibri"/>
              </a:rPr>
              <a:t>• Reward loop that grows from measured behavior</a:t>
            </a:r>
          </a:p>
          <a:p>
            <a:pPr>
              <a:spcAft>
                <a:spcPts val="1200"/>
              </a:spcAft>
            </a:pPr>
            <a:r>
              <a:rPr sz="2900" b="0">
                <a:solidFill>
                  <a:srgbClr val="34492F"/>
                </a:solidFill>
                <a:latin typeface="Calibri"/>
              </a:rPr>
              <a:t>• Cute plant mechanic that makes progress visible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34492F"/>
                </a:solidFill>
                <a:latin typeface="Calibri"/>
              </a:rPr>
              <a:t>• IMU on Nano 33 BLE Sense reads back angle.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34492F"/>
                </a:solidFill>
                <a:latin typeface="Calibri"/>
              </a:rPr>
              <a:t>• Modulino Distance reads screen distance.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34492F"/>
                </a:solidFill>
                <a:latin typeface="Calibri"/>
              </a:rPr>
              <a:t>• Movement cue confirms break behavior.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34492F"/>
                </a:solidFill>
                <a:latin typeface="Calibri"/>
              </a:rPr>
              <a:t>• Web app turns signals into a 3-state coach: NORMAL -&gt; WARNING -&gt; ACTION.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34492F"/>
                </a:solidFill>
                <a:latin typeface="Calibri"/>
              </a:rPr>
              <a:t>• Growth mechanic makes the plant grow from real sensor-confirmed behavior.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34492F"/>
                </a:solidFill>
                <a:latin typeface="Calibri"/>
              </a:rPr>
              <a:t>• HR view shows aggregate team pattern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5532120"/>
            <a:ext cx="6217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B7566"/>
                </a:solidFill>
                <a:latin typeface="Calibri"/>
              </a:rPr>
              <a:t>Nano IMU + Modulino ToF + UNO Q bridge -&gt; Browser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52760" cy="3474720"/>
          </a:xfrm>
          <a:prstGeom prst="roundRect">
            <a:avLst/>
          </a:prstGeom>
          <a:solidFill>
            <a:srgbClr val="FFFDF8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4492F"/>
                </a:solidFill>
                <a:latin typeface="Consolas"/>
              </a:rPr>
              <a:t>[Nano 33 BLE Sense] --BLE--&gt; [UNO Q Linux]
[Modulino ToF]      --Serial-&gt; [UNO Q MCU]
[UNO Q Linux]       --WebSocket--&gt; [Next.js Browser]
[Browser]           --window.name--&gt; demo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B7566"/>
                </a:solidFill>
                <a:latin typeface="Calibri"/>
              </a:rPr>
              <a:t>UNO Q = edge hub: MCU for realtime bridge, Linux for Python WebSocket + static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Demo (Live)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600" b="0">
                <a:solidFill>
                  <a:srgbClr val="34492F"/>
                </a:solidFill>
                <a:latin typeface="Calibri"/>
              </a:rPr>
              <a:t>• Normal posture</a:t>
            </a:r>
          </a:p>
          <a:p>
            <a:pPr>
              <a:spcAft>
                <a:spcPts val="700"/>
              </a:spcAft>
            </a:pPr>
            <a:r>
              <a:rPr sz="2600" b="0">
                <a:solidFill>
                  <a:srgbClr val="34492F"/>
                </a:solidFill>
                <a:latin typeface="Calibri"/>
              </a:rPr>
              <a:t>• Hunched cue</a:t>
            </a:r>
          </a:p>
          <a:p>
            <a:pPr>
              <a:spcAft>
                <a:spcPts val="700"/>
              </a:spcAft>
            </a:pPr>
            <a:r>
              <a:rPr sz="2600" b="0">
                <a:solidFill>
                  <a:srgbClr val="34492F"/>
                </a:solidFill>
                <a:latin typeface="Calibri"/>
              </a:rPr>
              <a:t>• Stretch completion</a:t>
            </a:r>
          </a:p>
          <a:p>
            <a:pPr>
              <a:spcAft>
                <a:spcPts val="700"/>
              </a:spcAft>
            </a:pPr>
            <a:r>
              <a:rPr sz="2600" b="0">
                <a:solidFill>
                  <a:srgbClr val="34492F"/>
                </a:solidFill>
                <a:latin typeface="Calibri"/>
              </a:rPr>
              <a:t>• Growth level-up</a:t>
            </a:r>
          </a:p>
          <a:p>
            <a:pPr>
              <a:spcAft>
                <a:spcPts val="700"/>
              </a:spcAft>
            </a:pPr>
            <a:r>
              <a:rPr sz="2600" b="0">
                <a:solidFill>
                  <a:srgbClr val="34492F"/>
                </a:solidFill>
                <a:latin typeface="Calibri"/>
              </a:rPr>
              <a:t>• Second-Brain insights</a:t>
            </a:r>
          </a:p>
          <a:p>
            <a:pPr>
              <a:spcAft>
                <a:spcPts val="700"/>
              </a:spcAft>
            </a:pPr>
            <a:r>
              <a:rPr sz="2600" b="0">
                <a:solidFill>
                  <a:srgbClr val="34492F"/>
                </a:solidFill>
                <a:latin typeface="Calibri"/>
              </a:rPr>
              <a:t>• HR aggregate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194560"/>
            <a:ext cx="2880360" cy="1143000"/>
          </a:xfrm>
          <a:prstGeom prst="roundRect">
            <a:avLst/>
          </a:prstGeom>
          <a:solidFill>
            <a:srgbClr val="F7E1C5"/>
          </a:solidFill>
          <a:ln>
            <a:solidFill>
              <a:srgbClr val="DCA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2560320"/>
            <a:ext cx="2514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34492F"/>
                </a:solidFill>
                <a:latin typeface="Calibri"/>
              </a:rPr>
              <a:t>Live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Market &amp;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Beachhead: B2B office wellness pilot for tech companies and co-working spaces.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Revenue: hardware kit + monthly aggregate dashboard.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Expansion: decorative content, team challenges, privacy-preserving aggregate reports.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Market sizing source to be added before final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Feedback from judges on hardware reliability and pilot design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Mentorship on enterprise wellness sales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Distribution partnership with Arduino, maker community, and workplace wellness partners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34492F"/>
                </a:solidFill>
                <a:latin typeface="Calibri"/>
              </a:rPr>
              <a:t>• Pilot company for a 2-week office trial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34492F"/>
                </a:solidFill>
                <a:latin typeface="Calibri"/>
              </a:rPr>
              <a:t>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69848"/>
            <a:ext cx="10789920" cy="36576"/>
          </a:xfrm>
          <a:prstGeom prst="rect">
            <a:avLst/>
          </a:prstGeom>
          <a:solidFill>
            <a:srgbClr val="6FB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34492F"/>
                </a:solidFill>
                <a:latin typeface="Calibri"/>
              </a:rPr>
              <a:t>sensor -&gt; insight -&gt; action -&gt; reward -&gt; team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069080"/>
            <a:ext cx="6675120" cy="73152"/>
          </a:xfrm>
          <a:prstGeom prst="rect">
            <a:avLst/>
          </a:prstGeom>
          <a:solidFill>
            <a:srgbClr val="DC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6199632"/>
            <a:ext cx="1920240" cy="347472"/>
          </a:xfrm>
          <a:prstGeom prst="roundRect">
            <a:avLst/>
          </a:prstGeom>
          <a:solidFill>
            <a:srgbClr val="E9F4E3"/>
          </a:solidFill>
          <a:ln>
            <a:solidFill>
              <a:srgbClr val="C9D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272784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492F"/>
                </a:solidFill>
                <a:latin typeface="Calibri"/>
              </a:rPr>
              <a:t>Sati demo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566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